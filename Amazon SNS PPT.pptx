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7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2C948-D774-4056-B2F1-494AE591CA2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24816-E768-4237-AA4E-F3BE3BA110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60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24816-E768-4237-AA4E-F3BE3BA110D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6461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78240" y="-182880"/>
            <a:ext cx="3931920" cy="7315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98280" y="502920"/>
            <a:ext cx="2331720" cy="2331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64040" y="960120"/>
            <a:ext cx="1600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4040" y="1508760"/>
            <a:ext cx="1600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200" b="1">
                <a:solidFill>
                  <a:srgbClr val="FF9900"/>
                </a:solidFill>
                <a:latin typeface="Aptos"/>
              </a:rPr>
              <a:t>SNS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7498079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PUBLISH  →  FAN-OUT  → 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68096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Amazon Simple
Notification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63240"/>
            <a:ext cx="7132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A practical seminar on scalable publish/subscribe messaging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069080"/>
            <a:ext cx="7086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315968"/>
            <a:ext cx="1280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6309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One message → many subscribers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3659976" cy="2769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"/>
              </a:rPr>
              <a:t>Presenter: </a:t>
            </a:r>
            <a:r>
              <a:rPr lang="en-US" sz="1200" dirty="0" err="1">
                <a:solidFill>
                  <a:srgbClr val="94A3B8"/>
                </a:solidFill>
                <a:latin typeface="Aptos"/>
              </a:rPr>
              <a:t>S.</a:t>
            </a:r>
            <a:r>
              <a:rPr lang="en-US" sz="1200" b="0" dirty="0" err="1">
                <a:solidFill>
                  <a:srgbClr val="94A3B8"/>
                </a:solidFill>
                <a:latin typeface="Aptos"/>
              </a:rPr>
              <a:t>Aswadhama</a:t>
            </a:r>
            <a:r>
              <a:rPr lang="en-US" sz="1200" b="0" dirty="0">
                <a:solidFill>
                  <a:srgbClr val="94A3B8"/>
                </a:solidFill>
                <a:latin typeface="Aptos"/>
              </a:rPr>
              <a:t> Reddy</a:t>
            </a:r>
            <a:r>
              <a:rPr sz="1200" b="0" dirty="0">
                <a:solidFill>
                  <a:srgbClr val="94A3B8"/>
                </a:solidFill>
                <a:latin typeface="Aptos"/>
              </a:rPr>
              <a:t>    |    Date: </a:t>
            </a:r>
            <a:r>
              <a:rPr lang="en-US" sz="1200" b="0" dirty="0">
                <a:solidFill>
                  <a:srgbClr val="94A3B8"/>
                </a:solidFill>
                <a:latin typeface="Aptos"/>
              </a:rPr>
              <a:t>5-10-2026</a:t>
            </a:r>
            <a:endParaRPr sz="1200" b="0" dirty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3337560"/>
            <a:ext cx="2468880" cy="10058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Fully managed • Pub/Sub • A2A + A2P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What is Amazon SNS?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Understand the service before looking at the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THE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389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"/>
              </a:rPr>
              <a:t>Publish / Subscribe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4526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A fully managed messaging service on AWS.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A publisher sends a message to an SNS topic.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SNS pushes the message to subscribed endpoints.</a:t>
            </a:r>
          </a:p>
          <a:p>
            <a:pPr>
              <a:spcAft>
                <a:spcPts val="5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Supports Application-to-Application (A2A) and Application-to-Person (A2P)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94960" cy="1965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WHEN SHOULD YOU USE SNS?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One event must notify multiple systems.</a:t>
            </a:r>
          </a:p>
          <a:p>
            <a:pPr>
              <a:spcAft>
                <a:spcPts val="5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You want loose coupling between services.</a:t>
            </a:r>
          </a:p>
          <a:p>
            <a:pPr>
              <a:spcAft>
                <a:spcPts val="5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You need email, SMS, mobile push, or web endpoints.</a:t>
            </a:r>
          </a:p>
          <a:p>
            <a:pPr>
              <a:spcAft>
                <a:spcPts val="5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You need event fan-out for serverless/microservices.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456432"/>
            <a:ext cx="5394960" cy="230428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730752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KEY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96512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096512"/>
            <a:ext cx="3383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— Communication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Publisher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480560"/>
            <a:ext cx="3383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— Sends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64608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Subscriber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864608"/>
            <a:ext cx="3383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— Receives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48656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Fan-out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248656"/>
            <a:ext cx="33832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— One-to-many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8686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Source: AWS Amazon SNS Developer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537960"/>
            <a:ext cx="24688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475569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Architecture: How SNS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topic decouples the publisher from multiple consumers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1828800" cy="1143000"/>
          </a:xfrm>
          <a:prstGeom prst="roundRect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61488"/>
            <a:ext cx="1463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App / Lambda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783080"/>
            <a:ext cx="2286000" cy="205740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2084831"/>
            <a:ext cx="1737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9900"/>
                </a:solidFill>
                <a:latin typeface="Aptos"/>
              </a:rPr>
              <a:t>SNS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60320"/>
            <a:ext cx="1828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OrderEvents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090672"/>
            <a:ext cx="1828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Pub/Sub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143000"/>
            <a:ext cx="1920240" cy="7772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37160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Amazon SQS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2240280"/>
            <a:ext cx="1920240" cy="77724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46888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AWS Lambda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337560"/>
            <a:ext cx="1920240" cy="77724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56616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Email / SMS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240280"/>
            <a:ext cx="1920240" cy="777240"/>
          </a:xfrm>
          <a:prstGeom prst="roundRect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0" y="246888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HTTP(S)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2816352"/>
            <a:ext cx="1280160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89320" y="1536192"/>
            <a:ext cx="1188720" cy="1280160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89320" y="2633472"/>
            <a:ext cx="1188720" cy="182880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989320" y="2816352"/>
            <a:ext cx="1188720" cy="914400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989320" y="2633472"/>
            <a:ext cx="3749040" cy="182880"/>
          </a:xfrm>
          <a:prstGeom prst="line">
            <a:avLst/>
          </a:prstGeom>
          <a:ln w="317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4572000"/>
            <a:ext cx="10972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81888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DELIVERY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782312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Message filtering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82312"/>
            <a:ext cx="1234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Retry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782312"/>
            <a:ext cx="1600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Dead-letter queues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782312"/>
            <a:ext cx="1508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Encryption / IAM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782312"/>
            <a:ext cx="1143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FIFO ordering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782312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782312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782312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782312"/>
            <a:ext cx="274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8686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Source: AWS SNS Features &amp; A2A Messaging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6537960"/>
            <a:ext cx="24688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475569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Key Features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Features that make SNS useful in modern cloud architectures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46888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Fan-out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Publish once and deliver to many subscribers.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25880"/>
            <a:ext cx="2468880" cy="182880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52704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892807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Standard + FIFO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Choose broad throughput or ordered, deduplicated messaging.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325880"/>
            <a:ext cx="246888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52704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892807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Message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8600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Subscribers can receive only the messages they need.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325880"/>
            <a:ext cx="246888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152704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892807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Durability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28600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Retries and dead-letter queues help handle delivery failures.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703320"/>
            <a:ext cx="2468880" cy="182880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3904487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270248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66344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IAM/resource policies, encryption with KMS, and private connectivity options.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66360" y="3703320"/>
            <a:ext cx="246888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3904487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270248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A2P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66344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Email, SMS and mobile push support for user-facing alerts.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703320"/>
            <a:ext cx="2468880" cy="182880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904487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270248"/>
            <a:ext cx="2057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Serverless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663440"/>
            <a:ext cx="205740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Integrates with SQS, Lambda, Firehose, HTTP(S) and AWS services.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897880"/>
            <a:ext cx="8229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Result: less custom notification logic + better decoupling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8686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Source: AWS SNS Features &amp; AWS SNS product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6537960"/>
            <a:ext cx="24688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475569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Pricing +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Think in terms of messages, deliveries, API activity, and endpoint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166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PRICING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377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No upfront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43484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Typical charges depend on message publishing, notifications delivered, API requests and delivery type. SMS pricing is separate and region/route dependent.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5532120" cy="443484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REAL-WORLD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4389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Aptos"/>
              </a:rPr>
              <a:t>E-commerce Order Event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1417320" cy="640080"/>
          </a:xfrm>
          <a:prstGeom prst="roundRect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2788920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Checkout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606040"/>
            <a:ext cx="1417320" cy="64008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2788920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SNS Topic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240280"/>
            <a:ext cx="1417320" cy="64008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2423160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Fulfillment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3246120"/>
            <a:ext cx="1417320" cy="64008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0072" y="3429000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Customer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18120" y="2926080"/>
            <a:ext cx="182880" cy="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418320" y="2560320"/>
            <a:ext cx="228600" cy="36576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18320" y="2926080"/>
            <a:ext cx="228600" cy="640080"/>
          </a:xfrm>
          <a:prstGeom prst="line">
            <a:avLst/>
          </a:prstGeom>
          <a:ln w="2794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55080" y="406908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Order service publishes one event.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SNS fans out the event.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SQS/Lambda can process fulfillment while customer notification is handled separately.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66160"/>
            <a:ext cx="5166360" cy="2103120"/>
          </a:xfrm>
          <a:prstGeom prst="roundRect">
            <a:avLst/>
          </a:prstGeom>
          <a:solidFill>
            <a:srgbClr val="FFEDD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840480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COST-CONTROL TIPS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24528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Use filtering to avoid unnecessary deliveries.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Monitor usage and delivery metrics.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Check the current regional pricing page before estimating production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37960"/>
            <a:ext cx="8686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Source: AWS SNS pricing guidance and Developer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6537960"/>
            <a:ext cx="24688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475569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57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46888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Practical Demo +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simple console walkthrough you can perform during the seminar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2920" cy="502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25296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Create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225296"/>
            <a:ext cx="5303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SNS Console → Topics → Create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30552"/>
            <a:ext cx="502920" cy="502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40280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2140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Create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21408"/>
            <a:ext cx="5303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Choose Email / HTTP / SQS / Lambda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26664"/>
            <a:ext cx="502920" cy="502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Confirm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17520"/>
            <a:ext cx="5303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For email, open the confirmation message and confirm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22776"/>
            <a:ext cx="502920" cy="502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32504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13632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Publish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913632"/>
            <a:ext cx="5303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Open topic → Publish message → enter subject/body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18888"/>
            <a:ext cx="502920" cy="502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928616"/>
            <a:ext cx="502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09744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Verify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809744"/>
            <a:ext cx="5303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Show the received notification / downstream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234440"/>
            <a:ext cx="2971800" cy="4434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1554480"/>
            <a:ext cx="23317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9900"/>
                </a:solidFill>
                <a:latin typeface="Aptos"/>
              </a:rPr>
              <a:t>3 THINGS TO 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24028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212848"/>
            <a:ext cx="173736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SNS is Pub/Sub.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15468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127248"/>
            <a:ext cx="173736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Topics decouple publishers and subscribers.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406908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41648"/>
            <a:ext cx="1737360" cy="6583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Fan-out enables scalable event-driven systems.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715000"/>
            <a:ext cx="740664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6949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Demo goal: publish ONE message and visibly show MULTIPLE deliveries.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897880"/>
            <a:ext cx="26517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ptos"/>
              </a:rPr>
              <a:t>Thank You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8686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Demo reference: AWS Amazon SNS Getting Started tutorial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6537960"/>
            <a:ext cx="24688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475569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Demo — Create the SNS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6984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Evidence from sns2: AWS Console walkthrough, from the SNS landing page to topic creation.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889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62456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STEP 1  •  Open SNS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246888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AWS Console → Amazon SNS → Topics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59152"/>
            <a:ext cx="27889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9152"/>
            <a:ext cx="54864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87168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STEP 2  •  Create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98064"/>
            <a:ext cx="246888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Choose Standard or FIFO, then enter the topic name.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83864"/>
            <a:ext cx="27889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83864"/>
            <a:ext cx="54864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61188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STEP 3  •  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922776"/>
            <a:ext cx="246888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Review the configuration and create the topic.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234440"/>
            <a:ext cx="3977639" cy="37033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64577"/>
            <a:ext cx="3831335" cy="21504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30168" y="4636008"/>
            <a:ext cx="375818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AWS SNS — Create topic entry 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234440"/>
            <a:ext cx="3977639" cy="370332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1867967"/>
            <a:ext cx="3831335" cy="21436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44968" y="4636008"/>
            <a:ext cx="375818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Topic type &amp;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66360"/>
            <a:ext cx="7863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Seminar tip: explain why the topic is the communication channel between a publisher and multiple subscribers.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217920"/>
            <a:ext cx="1600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94A3B8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Demo — Create &amp; Confirm a Subscription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6984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A subscription connects an endpoint to the SNS topic and defines how messages are delivered.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331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62456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1  •  Create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2"/>
            <a:ext cx="201168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Select Email, HTTP(S), SQS, Lambda, or another supported endpoint.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41448"/>
            <a:ext cx="2331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41448"/>
            <a:ext cx="54864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69464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2  •  Wait for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80360"/>
            <a:ext cx="201168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Email endpoints require confirmation before delivery begins.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48456"/>
            <a:ext cx="233172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48456"/>
            <a:ext cx="54864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76472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3  •  Verify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087368"/>
            <a:ext cx="2011680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Confirmed status means the endpoint can receive notifications.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234440"/>
            <a:ext cx="2697480" cy="3429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083382"/>
            <a:ext cx="2551176" cy="14385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72968" y="4361688"/>
            <a:ext cx="24780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Topic — Subscriptions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234440"/>
            <a:ext cx="2697480" cy="3429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086159"/>
            <a:ext cx="2551176" cy="143295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07608" y="4361688"/>
            <a:ext cx="24780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Subscription 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1234440"/>
            <a:ext cx="2697480" cy="34290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093153"/>
            <a:ext cx="2551176" cy="14189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42248" y="4361688"/>
            <a:ext cx="24780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Confirmed subscription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956048"/>
            <a:ext cx="82296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Key concept: SNS separates the publisher from the delivery endpoint, reducing direct coupling.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217920"/>
            <a:ext cx="1600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94A3B8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Demo — Confirm &amp;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6984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screenshots show the confirmation email and the SNS console's Publish message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3977639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79170"/>
            <a:ext cx="5340096" cy="2995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" y="4910327"/>
            <a:ext cx="526694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Email — SNS subscription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86400" cy="3977639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73358"/>
            <a:ext cx="5340096" cy="30071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4910327"/>
            <a:ext cx="526694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SNS Console — Publish message to 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217920"/>
            <a:ext cx="1600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94A3B8"/>
                </a:solidFill>
                <a:latin typeface="Aptos"/>
              </a:rPr>
              <a:t>AMAZON SNS • SEMINAR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21808"/>
            <a:ext cx="1115568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21808"/>
            <a:ext cx="54864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440680"/>
            <a:ext cx="1645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Aptos"/>
              </a:rPr>
              <a:t>LIVE DEMO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422392"/>
            <a:ext cx="9052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8FAFC"/>
                </a:solidFill>
                <a:latin typeface="Aptos"/>
              </a:rPr>
              <a:t>Publish a simple message such as “Order #1234 has been placed” → then show the delivery in the subscriber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Demo — Verify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04672"/>
            <a:ext cx="106984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Close the loop: show the published message in the topic and the resulting notification in the subscriber inbox.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38862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22920"/>
            <a:ext cx="5340096" cy="3016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" y="4818888"/>
            <a:ext cx="526694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SNS Topic — message published successfully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486400" cy="388620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21825"/>
            <a:ext cx="5340096" cy="30188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4818888"/>
            <a:ext cx="526694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F8FAFC"/>
                </a:solidFill>
                <a:latin typeface="Aptos"/>
              </a:rPr>
              <a:t>Subscriber inbox — received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218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DEMO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285232"/>
            <a:ext cx="8046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ONE PUBLISH  →  SNS TOPIC  →  SUBSCRIBER RECEIVES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650992"/>
            <a:ext cx="8686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This visual proof reinforces the seminar's core idea: publish once, then fan out to consumers.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217920"/>
            <a:ext cx="1600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50" b="1">
                <a:solidFill>
                  <a:srgbClr val="94A3B8"/>
                </a:solidFill>
                <a:latin typeface="Aptos"/>
              </a:rPr>
              <a:t>AMAZON SNS • SEMINAR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EC8D7"/>
                </a:solidFill>
              </a:defRPr>
            </a:pPr>
            <a:r>
              <a:t>Amazon SNS enables simple, scalable, and reliable event-driven communication.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621792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42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773936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4FA"/>
                </a:solidFill>
              </a:defRPr>
            </a:pPr>
            <a:r>
              <a:t>SNS is a fully managed Publish/Subscribe messaging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621792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420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532888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4FA"/>
                </a:solidFill>
              </a:defRPr>
            </a:pPr>
            <a:r>
              <a:t>It decouples publishers from subscribers and supports one-to-many fan-out.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300984"/>
            <a:ext cx="621792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420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291840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4FA"/>
                </a:solidFill>
              </a:defRPr>
            </a:pPr>
            <a:r>
              <a:t>It integrates with services such as SQS, Lambda, HTTP(S), email, SMS, and mobile push.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059935"/>
            <a:ext cx="621792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420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050791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4FA"/>
                </a:solidFill>
              </a:defRPr>
            </a:pPr>
            <a:r>
              <a:t>Message filtering, retries, security, and delivery controls support reliable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818888"/>
            <a:ext cx="621792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420"/>
                </a:solidFill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809744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4FA"/>
                </a:solidFill>
              </a:defRPr>
            </a:pPr>
            <a:r>
              <a:t>SNS is especially useful for event-driven, serverless, and microservices architectures.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06440"/>
            <a:ext cx="10561320" cy="658368"/>
          </a:xfrm>
          <a:prstGeom prst="roundRect">
            <a:avLst/>
          </a:prstGeom>
          <a:solidFill>
            <a:srgbClr val="1C2737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Key Takeaway:  Publish once → SNS fans out → Multiple subscribers receive the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651967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F"/>
                </a:solidFill>
              </a:defRPr>
            </a:pPr>
            <a:r>
              <a:t>AMAZON SNS • SEMINAR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624</Words>
  <Application>Microsoft Office PowerPoint</Application>
  <PresentationFormat>Widescreen</PresentationFormat>
  <Paragraphs>136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AswadhamaReddy Sunkara</cp:lastModifiedBy>
  <cp:revision>2</cp:revision>
  <dcterms:created xsi:type="dcterms:W3CDTF">2013-01-27T09:14:16Z</dcterms:created>
  <dcterms:modified xsi:type="dcterms:W3CDTF">2026-10-03T06:27:37Z</dcterms:modified>
  <cp:category/>
</cp:coreProperties>
</file>